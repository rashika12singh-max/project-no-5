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4114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07D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TELLCO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25296"/>
            <a:ext cx="55778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Telecom User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6771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 network activity to customer segments
and satisfaction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566928"/>
            <a:ext cx="49834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 descr="tellco_dashboard_previe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786384"/>
            <a:ext cx="4553712" cy="2276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3172968"/>
            <a:ext cx="4297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771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STREAMLIT DASHBOARD PREVIEW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PRESENTATION ROADMAP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63240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  Business Need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2576" y="3063240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02  Data &amp; 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86784" y="3063240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03  User Overview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630168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04  Engagement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22576" y="3630168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05  Experience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6784" y="3630168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06  Satisfaction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197096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07 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2576" y="4197096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08 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6784" y="4197096"/>
            <a:ext cx="1481328" cy="429768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8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09  References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858768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37960" y="3858768"/>
            <a:ext cx="64008" cy="1417320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39712" y="409651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07D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SUBMITTED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438912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Rashika Singh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4754880"/>
            <a:ext cx="4206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27303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Analytics Intern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5010912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srgbClr val="6771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NextHikes IT Solutions  |  Project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56048"/>
            <a:ext cx="822960" cy="292608"/>
          </a:xfrm>
          <a:prstGeom prst="round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4956048"/>
            <a:ext cx="822960" cy="292608"/>
          </a:xfrm>
          <a:prstGeom prst="round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K-Means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4956048"/>
            <a:ext cx="822960" cy="292608"/>
          </a:xfrm>
          <a:prstGeom prst="round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Satisfaction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4956048"/>
            <a:ext cx="822960" cy="292608"/>
          </a:xfrm>
          <a:prstGeom prst="round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4956048"/>
            <a:ext cx="822960" cy="292608"/>
          </a:xfrm>
          <a:prstGeom prst="roundRect">
            <a:avLst/>
          </a:prstGeom>
          <a:solidFill>
            <a:srgbClr val="EB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295C84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Streamlit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272784"/>
            <a:ext cx="10863072" cy="10972"/>
          </a:xfrm>
          <a:prstGeom prst="rect">
            <a:avLst/>
          </a:prstGeom>
          <a:solidFill>
            <a:srgbClr val="DB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6656" y="6382512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67717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TellCo Telecom User Analytics  •  User Overview  •  Engagement  •  Experience  •  Satisfaction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38251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1B3D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89407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01 | Business Need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The project brief defines four analytical pillars and a dashboard deliverable.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2514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4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Analysis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188720"/>
            <a:ext cx="2514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1 month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xDR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188720"/>
            <a:ext cx="2514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Web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89136" y="1188720"/>
            <a:ext cx="25146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ML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Segmentation +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1513"/>
            <a:ext cx="5577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rPr dirty="0"/>
              <a:t>• Understand customer activity from network-generated </a:t>
            </a:r>
            <a:r>
              <a:rPr dirty="0" err="1"/>
              <a:t>xDR</a:t>
            </a:r>
            <a:r>
              <a:rPr dirty="0"/>
              <a:t> data.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rPr dirty="0"/>
              <a:t>• Identify user behavior, engagement, experience and satisfaction patterns.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rPr dirty="0"/>
              <a:t>• Convert analysis into an easy-to-use web dashboard.</a:t>
            </a:r>
          </a:p>
          <a:p>
            <a:pPr>
              <a:spcAft>
                <a:spcPts val="1000"/>
              </a:spcAft>
              <a:defRPr sz="1700">
                <a:solidFill>
                  <a:srgbClr val="232B34"/>
                </a:solidFill>
              </a:defRPr>
            </a:pPr>
            <a:r>
              <a:rPr dirty="0"/>
              <a:t>• Use the analytical outputs to support business interpretation.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65176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Raw xDR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65176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Clean + 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749039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User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749039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K-Means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484632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Satisfaction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484632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263A"/>
                </a:solidFill>
              </a:rPr>
              <a:t>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2</a:t>
            </a:r>
          </a:p>
        </p:txBody>
      </p:sp>
      <p:sp>
        <p:nvSpPr>
          <p:cNvPr id="18" name="Rounded Rectangle 17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BC37DE-799A-4ED2-A978-D1E9F6D59D24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3619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02 | Data Foundation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Raw dataset profile and preprocessing focus.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150,001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8144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55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106,856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Unique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0848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0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Exact duplicate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4932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The project report records 1,066 missing user IDs in the raw dataset.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Several network fields have substantial missingness, including TCP retransmission and HTTP traffic fields.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The pipeline applies numeric conversion, imputation, duplicate checks and IQR-based outlier treatment.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Interpretation should account for the one-month observation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560320"/>
            <a:ext cx="4480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82880" rtlCol="0" anchor="ctr"/>
          <a:lstStyle/>
          <a:p>
            <a:pPr algn="ctr"/>
            <a:r>
              <a:rPr sz="1200" b="1">
                <a:solidFill>
                  <a:srgbClr val="267D82"/>
                </a:solidFill>
              </a:rPr>
              <a:t>QUALITY CHECKPOINTS</a:t>
            </a:r>
          </a:p>
          <a:p>
            <a:pPr>
              <a:spcAft>
                <a:spcPts val="700"/>
              </a:spcAft>
              <a:defRPr sz="1200">
                <a:solidFill>
                  <a:srgbClr val="232B34"/>
                </a:solidFill>
              </a:defRPr>
            </a:pPr>
            <a:r>
              <a:t>✓ Missing-value profiling</a:t>
            </a:r>
          </a:p>
          <a:p>
            <a:pPr>
              <a:spcAft>
                <a:spcPts val="700"/>
              </a:spcAft>
              <a:defRPr sz="1200">
                <a:solidFill>
                  <a:srgbClr val="232B34"/>
                </a:solidFill>
              </a:defRPr>
            </a:pPr>
            <a:r>
              <a:t>✓ Duplicate detection</a:t>
            </a:r>
          </a:p>
          <a:p>
            <a:pPr>
              <a:spcAft>
                <a:spcPts val="700"/>
              </a:spcAft>
              <a:defRPr sz="1200">
                <a:solidFill>
                  <a:srgbClr val="232B34"/>
                </a:solidFill>
              </a:defRPr>
            </a:pPr>
            <a:r>
              <a:t>✓ Numeric conversion</a:t>
            </a:r>
          </a:p>
          <a:p>
            <a:pPr>
              <a:spcAft>
                <a:spcPts val="700"/>
              </a:spcAft>
              <a:defRPr sz="1200">
                <a:solidFill>
                  <a:srgbClr val="232B34"/>
                </a:solidFill>
              </a:defRPr>
            </a:pPr>
            <a:r>
              <a:t>✓ IQR outlier checks</a:t>
            </a:r>
          </a:p>
          <a:p>
            <a:pPr>
              <a:spcAft>
                <a:spcPts val="700"/>
              </a:spcAft>
              <a:defRPr sz="1200">
                <a:solidFill>
                  <a:srgbClr val="232B34"/>
                </a:solidFill>
              </a:defRPr>
            </a:pPr>
            <a:r>
              <a:t>✓ User-level aggregation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3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6C955-7858-42C4-B001-7C999C7395D6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76543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03 | User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Device mix and application behavior establish the customer baseline.</a:t>
            </a:r>
          </a:p>
        </p:txBody>
      </p:sp>
      <p:pic>
        <p:nvPicPr>
          <p:cNvPr id="5" name="Picture 4" descr="top_hand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5303520" cy="2760253"/>
          </a:xfrm>
          <a:prstGeom prst="rect">
            <a:avLst/>
          </a:prstGeom>
        </p:spPr>
      </p:pic>
      <p:pic>
        <p:nvPicPr>
          <p:cNvPr id="6" name="Picture 5" descr="top_manufactur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15568"/>
            <a:ext cx="5303520" cy="3867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4471429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B34"/>
                </a:solidFill>
              </a:defRPr>
            </a:pPr>
            <a:r>
              <a:rPr dirty="0"/>
              <a:t>• Top manufacturers: Apple 59,565 | Samsung 40,839 | Huawei 34,423.</a:t>
            </a:r>
          </a:p>
          <a:p>
            <a:pPr>
              <a:spcAft>
                <a:spcPts val="1000"/>
              </a:spcAft>
              <a:defRPr sz="1200">
                <a:solidFill>
                  <a:srgbClr val="232B34"/>
                </a:solidFill>
              </a:defRPr>
            </a:pPr>
            <a:r>
              <a:rPr dirty="0"/>
              <a:t>• Huawei B528S-23A is the leading handset type in the submitted analysis.</a:t>
            </a:r>
          </a:p>
          <a:p>
            <a:pPr>
              <a:spcAft>
                <a:spcPts val="1000"/>
              </a:spcAft>
              <a:defRPr sz="1200">
                <a:solidFill>
                  <a:srgbClr val="232B34"/>
                </a:solidFill>
              </a:defRPr>
            </a:pPr>
            <a:r>
              <a:rPr dirty="0"/>
              <a:t>• Device concentration provides context for later behavioral segmentation.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4</a:t>
            </a:r>
          </a:p>
        </p:txBody>
      </p:sp>
      <p:sp>
        <p:nvSpPr>
          <p:cNvPr id="10" name="Rounded Rectangle 9">
            <a:hlinkClick r:id="rId4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44415B-4D90-411C-9118-5806F8376CBF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13836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04 | User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Segmentation of customer activity using frequency, duration and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3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K-Means clusters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Sessions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Frequency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Duration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Usage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3416" y="1170432"/>
            <a:ext cx="2514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Traffic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6488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Engagement combines </a:t>
            </a:r>
            <a:r>
              <a:rPr dirty="0" err="1"/>
              <a:t>xDR</a:t>
            </a:r>
            <a:r>
              <a:rPr dirty="0"/>
              <a:t> session count, session duration and total traffic.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Features are normalized before clustering.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K-Means with k=3 is used to create engagement segments.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Cluster summaries are used to characterize user groups.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The notebook output contains an extremely small cluster, so that segment should be interpreted cautiously.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2743200"/>
            <a:ext cx="36576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6263A"/>
                </a:solidFill>
              </a:rPr>
              <a:t>Main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474720"/>
            <a:ext cx="1722462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6263A"/>
                </a:solidFill>
              </a:rPr>
              <a:t>Secondary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59" y="4206240"/>
            <a:ext cx="95190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16263A"/>
                </a:solidFill>
              </a:rPr>
              <a:t>Extreme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5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11E1F2-2813-423C-A5AE-7C73E3458E53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295144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05 |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Network-quality segmentation using retransmission, latency and throughput.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3200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TCP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Retransmission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88720"/>
            <a:ext cx="3200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RTT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Latency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20040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Throughput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Network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084" y="2802636"/>
            <a:ext cx="6400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Average TCP retransmission, RTT and throughput are calculated per customer.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TCP retransmission and RTT are direction-adjusted before clustering.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K-Means with k=3 creates three experience segments.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Experience score is based on distance from the cluster identified as the worst experience group.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Scores should be interpreted together with the underlying network metrics.</a:t>
            </a:r>
          </a:p>
        </p:txBody>
      </p:sp>
      <p:pic>
        <p:nvPicPr>
          <p:cNvPr id="9" name="Picture 8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495035"/>
            <a:ext cx="4177986" cy="28624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6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3A7556-0F2E-4699-8ECF-FDE71F59B972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03679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06 | User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Combining engagement and experience into a customer-level satisfaction 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561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6263A"/>
                </a:solidFill>
              </a:rPr>
              <a:t>Engagement Score  +  Experience Score  →  Satisfaction Score  →  K-Means (k=2)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52928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Satisfaction is constructed from the engagement and experience scores.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Two satisfaction clusters are created using K-Means.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A very large score of 260.56 appears against other top values around 2.6–2.7.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rPr dirty="0"/>
              <a:t>• This outlier materially affects the interpretation of the satisfaction segmentation.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884932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>
                <a:solidFill>
                  <a:srgbClr val="267D82"/>
                </a:solidFill>
              </a:rPr>
              <a:t>260.56</a:t>
            </a:r>
          </a:p>
          <a:p>
            <a:pPr algn="ctr"/>
            <a:r>
              <a:rPr sz="900" dirty="0">
                <a:solidFill>
                  <a:srgbClr val="606B78"/>
                </a:solidFill>
              </a:rPr>
              <a:t>largest reported satisfaction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7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3C9579-9E46-4DD0-B9BF-06B80B50884F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78340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07 | Satisfaction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Regression comparison and the main modeling limitation.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Hist Gradient Boosting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Tracked final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115568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0.02229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MAE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115568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A5C91"/>
                </a:solidFill>
              </a:rPr>
              <a:t>1.93562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RMSE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1704" y="1115568"/>
            <a:ext cx="25603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67D82"/>
                </a:solidFill>
              </a:rPr>
              <a:t>0.06704</a:t>
            </a:r>
          </a:p>
          <a:p>
            <a:pPr algn="ctr"/>
            <a:r>
              <a:rPr sz="900">
                <a:solidFill>
                  <a:srgbClr val="606B78"/>
                </a:solidFill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67228"/>
            <a:ext cx="6583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Hist Gradient Boosting has the highest observed R² in the submitted model comparison.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Training: 72,029 samples | Testing: 18,008 samples.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Model artifact: </a:t>
            </a:r>
            <a:r>
              <a:rPr dirty="0" err="1"/>
              <a:t>satisfaction_model.pkl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R² = 0.06704 is low, indicating limited explanatory power for the constructed satisfaction score.</a:t>
            </a:r>
          </a:p>
          <a:p>
            <a:pPr>
              <a:spcAft>
                <a:spcPts val="1000"/>
              </a:spcAft>
              <a:defRPr sz="1500">
                <a:solidFill>
                  <a:srgbClr val="232B34"/>
                </a:solidFill>
              </a:defRPr>
            </a:pPr>
            <a:r>
              <a:rPr dirty="0"/>
              <a:t>• More predictive behavioral/network/customer features would be needed for stronger performance.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69497"/>
              </p:ext>
            </p:extLst>
          </p:nvPr>
        </p:nvGraphicFramePr>
        <p:xfrm>
          <a:off x="7452360" y="2963632"/>
          <a:ext cx="37490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6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Hist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rPr dirty="0"/>
                        <a:t>0.022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1.936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Extra 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1.936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1.936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1.936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0.241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t>10.150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232B34"/>
                          </a:solidFill>
                        </a:defRPr>
                      </a:pPr>
                      <a:r>
                        <a:rPr dirty="0"/>
                        <a:t>-24.655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72345-D7EF-430F-90CA-4C6D8BAE6AC4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374500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08 |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263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One consolidated dashboard view — no repeated dashboard pages.</a:t>
            </a:r>
          </a:p>
        </p:txBody>
      </p:sp>
      <p:pic>
        <p:nvPicPr>
          <p:cNvPr id="5" name="Picture 4" descr="tellco_clea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80" y="987303"/>
            <a:ext cx="9298112" cy="53656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9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1AED41-24D1-4AC6-8F28-810497ABB97E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474636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09 | References &amp; Source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06B78"/>
                </a:solidFill>
              </a:rPr>
              <a:t>Materials used as the basis of the project and presentation.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t>1. Nexthikes IT Solutions — “User Analytics in the Telecommunication Industry” project brief.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t>2. TellCo Telecom User Analytics — project report / complete Python implementation.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t>3. Submitted notebook — project_5_final.ipynb.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t>4. Scikit-learn documentation — clustering, PCA and regression methods.</a:t>
            </a:r>
          </a:p>
          <a:p>
            <a:pPr>
              <a:spcAft>
                <a:spcPts val="1000"/>
              </a:spcAft>
              <a:defRPr sz="1600">
                <a:solidFill>
                  <a:srgbClr val="232B34"/>
                </a:solidFill>
              </a:defRPr>
            </a:pPr>
            <a:r>
              <a:t>5. Streamlit documentation — dashboard application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9160" y="3236976"/>
            <a:ext cx="4104355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>
                <a:solidFill>
                  <a:srgbClr val="2A5C91"/>
                </a:solidFill>
              </a:defRPr>
            </a:pPr>
            <a:r>
              <a:rPr lang="en-IN" dirty="0" err="1"/>
              <a:t>sc</a:t>
            </a:r>
            <a:r>
              <a:rPr dirty="0"/>
              <a:t>ikit-learn.org/stable/modules/clustering.html</a:t>
            </a:r>
          </a:p>
          <a:p>
            <a:pPr>
              <a:spcAft>
                <a:spcPts val="600"/>
              </a:spcAft>
              <a:defRPr sz="1100">
                <a:solidFill>
                  <a:srgbClr val="2A5C91"/>
                </a:solidFill>
              </a:defRPr>
            </a:pPr>
            <a:r>
              <a:rPr lang="en-IN" dirty="0"/>
              <a:t>                 s</a:t>
            </a:r>
            <a:r>
              <a:rPr dirty="0"/>
              <a:t>cikit-learn.org/stable/modules/decomposition.html</a:t>
            </a:r>
          </a:p>
          <a:p>
            <a:pPr>
              <a:spcAft>
                <a:spcPts val="600"/>
              </a:spcAft>
              <a:defRPr sz="1100">
                <a:solidFill>
                  <a:srgbClr val="2A5C91"/>
                </a:solidFill>
              </a:defRPr>
            </a:pPr>
            <a:r>
              <a:rPr lang="en-IN" dirty="0"/>
              <a:t>                 </a:t>
            </a:r>
            <a:r>
              <a:rPr dirty="0"/>
              <a:t>docs.streamlit.io/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10</a:t>
            </a:r>
          </a:p>
        </p:txBody>
      </p:sp>
      <p:sp>
        <p:nvSpPr>
          <p:cNvPr id="9" name="Rounded Rectangle 8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C2D106-EFF1-44DE-B3FC-BF0EF6722681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27416" y="416314"/>
            <a:ext cx="584360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u="sng" dirty="0">
                <a:solidFill>
                  <a:srgbClr val="16263A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1115451"/>
            <a:ext cx="26084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/>
              <a:t>The</a:t>
            </a:r>
            <a:r>
              <a:rPr lang="en-IN" sz="1400" b="1" dirty="0"/>
              <a:t> analytical</a:t>
            </a:r>
            <a:r>
              <a:rPr sz="1400" b="1" dirty="0"/>
              <a:t> story in six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825564"/>
            <a:ext cx="1060704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Clean, structured </a:t>
            </a:r>
            <a:r>
              <a:rPr dirty="0" err="1"/>
              <a:t>xDR</a:t>
            </a:r>
            <a:r>
              <a:rPr dirty="0"/>
              <a:t> data provides the foundation for customer analytics.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Device and application analysis reveals concentrated usage patterns.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Engagement clustering converts usage intensity into customer segments.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Experience clustering captures network-quality differences using TCP, RTT and throughput.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Satisfaction combines both dimensions, but the extreme outlier must be disclosed.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v"/>
              <a:defRPr sz="1600">
                <a:solidFill>
                  <a:srgbClr val="232B34"/>
                </a:solidFill>
              </a:defRPr>
            </a:pPr>
            <a:r>
              <a:rPr dirty="0"/>
              <a:t>The final tracked model is Hist Gradient Boosting; its low R² highlights the need for richer predictive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6519672"/>
            <a:ext cx="5303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06B78"/>
                </a:solidFill>
              </a:rPr>
              <a:t>TellCo Telecom User Analytics | Nexthikes IT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>
                <a:solidFill>
                  <a:srgbClr val="606B78"/>
                </a:solidFill>
              </a:rPr>
              <a:t>11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566928" y="6199632"/>
            <a:ext cx="749808" cy="256032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16263A"/>
                </a:solidFill>
              </a:rPr>
              <a:t>HOME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DFD939-0835-49D3-B399-9C1E378FF4C4}"/>
              </a:ext>
            </a:extLst>
          </p:cNvPr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07D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2A568-520B-4FD2-B812-BCE27C77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5775"/>
            <a:ext cx="11275888" cy="114300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973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986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prave</dc:creator>
  <cp:keywords/>
  <dc:description>generated using python-pptx</dc:description>
  <cp:lastModifiedBy>prave</cp:lastModifiedBy>
  <cp:revision>6</cp:revision>
  <dcterms:created xsi:type="dcterms:W3CDTF">2013-01-27T09:14:16Z</dcterms:created>
  <dcterms:modified xsi:type="dcterms:W3CDTF">2026-09-29T19:01:06Z</dcterms:modified>
  <cp:category/>
</cp:coreProperties>
</file>